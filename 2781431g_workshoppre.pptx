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AC5D-284F-466B-91E9-FEDC70B44A13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E1E9-E9EB-4317-8FDA-4E0F8C9AC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899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AC5D-284F-466B-91E9-FEDC70B44A13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E1E9-E9EB-4317-8FDA-4E0F8C9AC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66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AC5D-284F-466B-91E9-FEDC70B44A13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E1E9-E9EB-4317-8FDA-4E0F8C9AC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359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AC5D-284F-466B-91E9-FEDC70B44A13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E1E9-E9EB-4317-8FDA-4E0F8C9AC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934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AC5D-284F-466B-91E9-FEDC70B44A13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E1E9-E9EB-4317-8FDA-4E0F8C9AC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109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AC5D-284F-466B-91E9-FEDC70B44A13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E1E9-E9EB-4317-8FDA-4E0F8C9AC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105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AC5D-284F-466B-91E9-FEDC70B44A13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E1E9-E9EB-4317-8FDA-4E0F8C9AC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491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AC5D-284F-466B-91E9-FEDC70B44A13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E1E9-E9EB-4317-8FDA-4E0F8C9AC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314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AC5D-284F-466B-91E9-FEDC70B44A13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E1E9-E9EB-4317-8FDA-4E0F8C9AC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137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AC5D-284F-466B-91E9-FEDC70B44A13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E1E9-E9EB-4317-8FDA-4E0F8C9AC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987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AC5D-284F-466B-91E9-FEDC70B44A13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E1E9-E9EB-4317-8FDA-4E0F8C9AC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960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5AC5D-284F-466B-91E9-FEDC70B44A13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7E1E9-E9EB-4317-8FDA-4E0F8C9AC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824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>
            <a:alpha val="3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9FE02C-337A-7A20-08C0-897E46E9336C}"/>
              </a:ext>
            </a:extLst>
          </p:cNvPr>
          <p:cNvSpPr txBox="1"/>
          <p:nvPr/>
        </p:nvSpPr>
        <p:spPr>
          <a:xfrm>
            <a:off x="1985818" y="554121"/>
            <a:ext cx="7961746" cy="830997"/>
          </a:xfrm>
          <a:prstGeom prst="rect">
            <a:avLst/>
          </a:prstGeom>
          <a:solidFill>
            <a:schemeClr val="bg1"/>
          </a:solidFill>
          <a:ln w="53975" cmpd="dbl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altLang="zh-CN" sz="2400" dirty="0"/>
              <a:t>Are AI-generated videos creating new ethical </a:t>
            </a:r>
          </a:p>
          <a:p>
            <a:pPr algn="ctr"/>
            <a:r>
              <a:rPr lang="en-GB" altLang="zh-CN" sz="2400" dirty="0"/>
              <a:t>and regulatory challenges for the media industry?</a:t>
            </a:r>
            <a:endParaRPr lang="zh-CN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7707AC-BC6B-893C-3F54-06E7DA80968F}"/>
              </a:ext>
            </a:extLst>
          </p:cNvPr>
          <p:cNvSpPr txBox="1"/>
          <p:nvPr/>
        </p:nvSpPr>
        <p:spPr>
          <a:xfrm>
            <a:off x="831272" y="2441974"/>
            <a:ext cx="4838236" cy="3170099"/>
          </a:xfrm>
          <a:prstGeom prst="rect">
            <a:avLst/>
          </a:prstGeom>
          <a:solidFill>
            <a:schemeClr val="bg1"/>
          </a:solidFill>
          <a:ln w="50800" cmpd="dbl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GB" altLang="zh-CN" sz="2000" dirty="0"/>
              <a:t>In next few years</a:t>
            </a:r>
            <a:r>
              <a:rPr lang="en-US" altLang="zh-CN" sz="2000" dirty="0"/>
              <a:t>, </a:t>
            </a:r>
            <a:r>
              <a:rPr lang="en-GB" altLang="zh-CN" sz="2000" dirty="0"/>
              <a:t>text-to-video models will become mature that can generate hyper-realistic videos from written prompts. We can often see the photos and videos generated on </a:t>
            </a:r>
            <a:r>
              <a:rPr lang="en-GB" altLang="zh-CN" sz="2000" dirty="0" err="1"/>
              <a:t>Tiktok</a:t>
            </a:r>
            <a:r>
              <a:rPr lang="en-GB" altLang="zh-CN" sz="2000" dirty="0"/>
              <a:t>. Although the generated videos are very realistic, what worries us is </a:t>
            </a:r>
            <a:r>
              <a:rPr lang="en-GB" altLang="zh-CN" sz="2000" b="1" dirty="0"/>
              <a:t>whether we can really handle this unrestricted AI creation tool well. Is there a copyright issue or ethical problem involved in?</a:t>
            </a:r>
            <a:endParaRPr lang="zh-CN" alt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2A876C-9B8F-0C36-57E3-A16D5FAC79EC}"/>
              </a:ext>
            </a:extLst>
          </p:cNvPr>
          <p:cNvSpPr txBox="1"/>
          <p:nvPr/>
        </p:nvSpPr>
        <p:spPr>
          <a:xfrm>
            <a:off x="831272" y="2032000"/>
            <a:ext cx="4838236" cy="400110"/>
          </a:xfrm>
          <a:prstGeom prst="rect">
            <a:avLst/>
          </a:prstGeom>
          <a:solidFill>
            <a:srgbClr val="FFFF00">
              <a:alpha val="67000"/>
            </a:srgbClr>
          </a:solidFill>
          <a:ln w="50800" cmpd="dbl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Background</a:t>
            </a:r>
            <a:endParaRPr lang="zh-CN" alt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260425-EC3A-D8C3-CE06-AA6F47F2F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061" y="1544341"/>
            <a:ext cx="3108612" cy="21387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A1460A-9B46-7DFC-0502-967BC0E22625}"/>
              </a:ext>
            </a:extLst>
          </p:cNvPr>
          <p:cNvSpPr txBox="1"/>
          <p:nvPr/>
        </p:nvSpPr>
        <p:spPr>
          <a:xfrm>
            <a:off x="6408249" y="3842358"/>
            <a:ext cx="4838236" cy="369332"/>
          </a:xfrm>
          <a:prstGeom prst="rect">
            <a:avLst/>
          </a:prstGeom>
          <a:solidFill>
            <a:srgbClr val="FFFF00">
              <a:alpha val="60000"/>
            </a:srgbClr>
          </a:solidFill>
          <a:ln w="50800" cmpd="dbl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Why this topic matters?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53A0C0-1294-3C02-A339-E2B55FA78BE5}"/>
              </a:ext>
            </a:extLst>
          </p:cNvPr>
          <p:cNvSpPr txBox="1"/>
          <p:nvPr/>
        </p:nvSpPr>
        <p:spPr>
          <a:xfrm>
            <a:off x="6408557" y="4211690"/>
            <a:ext cx="4838236" cy="2246769"/>
          </a:xfrm>
          <a:prstGeom prst="rect">
            <a:avLst/>
          </a:prstGeom>
          <a:solidFill>
            <a:schemeClr val="bg1"/>
          </a:solidFill>
          <a:ln w="50800" cmpd="dbl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Raises concerns about misinformation, copyright….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Challenges the boundaries between truth and fiction in online media.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Understanding these issues helps society develop responsible AI practices.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4424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>
            <a:alpha val="3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781214-DCB4-F79D-D61F-BF9EF4EBD541}"/>
              </a:ext>
            </a:extLst>
          </p:cNvPr>
          <p:cNvSpPr txBox="1"/>
          <p:nvPr/>
        </p:nvSpPr>
        <p:spPr>
          <a:xfrm>
            <a:off x="1078936" y="691204"/>
            <a:ext cx="4543719" cy="1569660"/>
          </a:xfrm>
          <a:prstGeom prst="rect">
            <a:avLst/>
          </a:prstGeom>
          <a:solidFill>
            <a:schemeClr val="bg1"/>
          </a:solidFill>
          <a:ln w="50800" cmpd="dbl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GB" altLang="zh-CN" sz="2400" dirty="0"/>
              <a:t>Ethical implications of AI-generated video content — especially deepfakes, privacy, and trust in digital media.</a:t>
            </a:r>
            <a:endParaRPr lang="zh-CN" alt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6C690B-EB04-DE34-D637-A32FFF521B06}"/>
              </a:ext>
            </a:extLst>
          </p:cNvPr>
          <p:cNvSpPr txBox="1"/>
          <p:nvPr/>
        </p:nvSpPr>
        <p:spPr>
          <a:xfrm>
            <a:off x="1078936" y="2506649"/>
            <a:ext cx="4543719" cy="400110"/>
          </a:xfrm>
          <a:prstGeom prst="rect">
            <a:avLst/>
          </a:prstGeom>
          <a:solidFill>
            <a:srgbClr val="FFFF00">
              <a:alpha val="69000"/>
            </a:srgbClr>
          </a:solidFill>
          <a:ln w="50800" cmpd="dbl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Methodology</a:t>
            </a:r>
            <a:endParaRPr lang="zh-CN" alt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137FA-15C5-9494-23A4-9B3F0877537F}"/>
              </a:ext>
            </a:extLst>
          </p:cNvPr>
          <p:cNvSpPr txBox="1"/>
          <p:nvPr/>
        </p:nvSpPr>
        <p:spPr>
          <a:xfrm>
            <a:off x="1078935" y="2906759"/>
            <a:ext cx="4543719" cy="3416320"/>
          </a:xfrm>
          <a:prstGeom prst="rect">
            <a:avLst/>
          </a:prstGeom>
          <a:solidFill>
            <a:schemeClr val="bg1"/>
          </a:solidFill>
          <a:ln w="50800" cmpd="dbl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Databases: Google Scholar, ACM digital library</a:t>
            </a:r>
          </a:p>
          <a:p>
            <a:r>
              <a:rPr lang="en-US" altLang="zh-CN" dirty="0"/>
              <a:t>Keywords: “AI video ethics”, “synthetic media regulation”, “deepfake misinformation”, “OpenAI”.</a:t>
            </a:r>
          </a:p>
          <a:p>
            <a:r>
              <a:rPr lang="en-US" altLang="zh-CN" dirty="0"/>
              <a:t>AI Tools Used: Used ChatGPT to summarize and compare literature. Used Semantic Scholar to locate related articles.</a:t>
            </a:r>
          </a:p>
          <a:p>
            <a:r>
              <a:rPr lang="en-US" altLang="zh-CN" dirty="0"/>
              <a:t>Human Judgment: Interpretation and ethical evaluation are done manually to ensure critical analysis beyond AI-generated summaries.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E6F8ED-1EB7-255B-8A35-839449648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187" y="3602260"/>
            <a:ext cx="4762500" cy="2495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4DA809-5D9B-C1AB-C6FE-7800AFAC816D}"/>
              </a:ext>
            </a:extLst>
          </p:cNvPr>
          <p:cNvSpPr txBox="1"/>
          <p:nvPr/>
        </p:nvSpPr>
        <p:spPr>
          <a:xfrm>
            <a:off x="6594764" y="1075924"/>
            <a:ext cx="4634923" cy="400110"/>
          </a:xfrm>
          <a:prstGeom prst="rect">
            <a:avLst/>
          </a:prstGeom>
          <a:solidFill>
            <a:srgbClr val="FFFF00">
              <a:alpha val="68000"/>
            </a:srgbClr>
          </a:solidFill>
          <a:ln w="50800" cmpd="dbl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Ultimate goal</a:t>
            </a:r>
            <a:endParaRPr lang="zh-CN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84B93A-0CD4-60C5-2BCE-527F775B46BD}"/>
              </a:ext>
            </a:extLst>
          </p:cNvPr>
          <p:cNvSpPr txBox="1"/>
          <p:nvPr/>
        </p:nvSpPr>
        <p:spPr>
          <a:xfrm>
            <a:off x="6594764" y="1476034"/>
            <a:ext cx="4634923" cy="1569660"/>
          </a:xfrm>
          <a:prstGeom prst="rect">
            <a:avLst/>
          </a:prstGeom>
          <a:solidFill>
            <a:schemeClr val="bg1"/>
          </a:solidFill>
          <a:ln w="50800" cmpd="dbl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GB" altLang="zh-CN" sz="2400" dirty="0"/>
              <a:t>Combine AI-assisted literature searching with human ethical reasoning to review how society should regulate tools like Sora.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54859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>
            <a:alpha val="3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97CF6A-6267-12DC-B97F-EAC0FC0CA92C}"/>
              </a:ext>
            </a:extLst>
          </p:cNvPr>
          <p:cNvSpPr txBox="1"/>
          <p:nvPr/>
        </p:nvSpPr>
        <p:spPr>
          <a:xfrm>
            <a:off x="1126836" y="1320800"/>
            <a:ext cx="4655128" cy="461665"/>
          </a:xfrm>
          <a:prstGeom prst="rect">
            <a:avLst/>
          </a:prstGeom>
          <a:solidFill>
            <a:srgbClr val="FFFF00">
              <a:alpha val="68000"/>
            </a:srgbClr>
          </a:solidFill>
          <a:ln w="50800" cmpd="dbl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Example literature</a:t>
            </a:r>
            <a:endParaRPr lang="zh-CN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7D7A7-ECDE-C94A-F9A9-A8C96BDF64C4}"/>
              </a:ext>
            </a:extLst>
          </p:cNvPr>
          <p:cNvSpPr txBox="1"/>
          <p:nvPr/>
        </p:nvSpPr>
        <p:spPr>
          <a:xfrm>
            <a:off x="1126836" y="2068945"/>
            <a:ext cx="4655128" cy="3477875"/>
          </a:xfrm>
          <a:prstGeom prst="rect">
            <a:avLst/>
          </a:prstGeom>
          <a:solidFill>
            <a:schemeClr val="bg1"/>
          </a:solidFill>
          <a:ln w="50800" cmpd="dbl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Emerald Publishing, (2025). </a:t>
            </a:r>
            <a:r>
              <a:rPr lang="en-GB" altLang="zh-CN" sz="2000" dirty="0"/>
              <a:t>Deepfakes and the crisis of digital authenticity: ethical challenges in the age of synthetic media</a:t>
            </a:r>
          </a:p>
          <a:p>
            <a:r>
              <a:rPr lang="zh-CN" altLang="en-US" sz="2000" dirty="0"/>
              <a:t>→ </a:t>
            </a:r>
            <a:r>
              <a:rPr lang="en-US" altLang="zh-CN" sz="2000" dirty="0"/>
              <a:t>E</a:t>
            </a:r>
            <a:r>
              <a:rPr lang="en-GB" altLang="zh-CN" sz="2000" dirty="0" err="1"/>
              <a:t>xamines</a:t>
            </a:r>
            <a:r>
              <a:rPr lang="en-GB" altLang="zh-CN" sz="2000" dirty="0"/>
              <a:t> perceptions among social media users in India – a context marked by high internet penetration but uneven digital literacy – while </a:t>
            </a:r>
            <a:r>
              <a:rPr lang="en-GB" altLang="zh-CN" sz="2000" b="1" dirty="0"/>
              <a:t>investigating the ethical implications of deepfake technologies and their influence on public trust in digital content.</a:t>
            </a:r>
            <a:endParaRPr lang="zh-CN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FE4AF5-6F5E-9129-9E80-F0C532D30A09}"/>
              </a:ext>
            </a:extLst>
          </p:cNvPr>
          <p:cNvSpPr txBox="1"/>
          <p:nvPr/>
        </p:nvSpPr>
        <p:spPr>
          <a:xfrm>
            <a:off x="6382327" y="550082"/>
            <a:ext cx="4756728" cy="461665"/>
          </a:xfrm>
          <a:prstGeom prst="rect">
            <a:avLst/>
          </a:prstGeom>
          <a:solidFill>
            <a:srgbClr val="FFFF00">
              <a:alpha val="70000"/>
            </a:srgbClr>
          </a:solidFill>
          <a:ln w="50800" cmpd="dbl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AI tool example</a:t>
            </a:r>
            <a:endParaRPr lang="zh-CN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D2D668-6007-DF16-814D-42E564C41171}"/>
              </a:ext>
            </a:extLst>
          </p:cNvPr>
          <p:cNvSpPr txBox="1"/>
          <p:nvPr/>
        </p:nvSpPr>
        <p:spPr>
          <a:xfrm>
            <a:off x="6382327" y="1011747"/>
            <a:ext cx="4756728" cy="1754326"/>
          </a:xfrm>
          <a:prstGeom prst="rect">
            <a:avLst/>
          </a:prstGeom>
          <a:solidFill>
            <a:schemeClr val="bg1"/>
          </a:solidFill>
          <a:ln w="50800" cmpd="dbl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GB" altLang="zh-CN" i="1" dirty="0"/>
              <a:t>Sora</a:t>
            </a:r>
            <a:r>
              <a:rPr lang="en-GB" altLang="zh-CN" dirty="0"/>
              <a:t> (OpenAI, 2025) – A cutting-edge text-to-video model producing realistic moving scenes.</a:t>
            </a:r>
            <a:br>
              <a:rPr lang="en-GB" altLang="zh-CN" dirty="0"/>
            </a:br>
            <a:r>
              <a:rPr lang="en-GB" altLang="zh-CN" dirty="0"/>
              <a:t>→ Demonstrates both creative opportunities and serious ethical risks, including misinformation and consent violations.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3BD29-42CC-7212-82B6-2AEDA48BC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177" y="2956532"/>
            <a:ext cx="2839027" cy="17026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B6B33D-D92C-3531-EF52-FDA3773BD666}"/>
              </a:ext>
            </a:extLst>
          </p:cNvPr>
          <p:cNvSpPr txBox="1"/>
          <p:nvPr/>
        </p:nvSpPr>
        <p:spPr>
          <a:xfrm>
            <a:off x="6410038" y="4950691"/>
            <a:ext cx="4756728" cy="1015663"/>
          </a:xfrm>
          <a:prstGeom prst="rect">
            <a:avLst/>
          </a:prstGeom>
          <a:solidFill>
            <a:schemeClr val="bg1"/>
          </a:solidFill>
          <a:ln w="50800" cmpd="dbl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GB" altLang="zh-CN" sz="2000" dirty="0"/>
              <a:t>These sources help frame the debate on how generative AI like Sora can be used responsibly in society.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3620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</TotalTime>
  <Words>338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Dongxuan Gao</dc:creator>
  <cp:lastModifiedBy>Dongxuan Gao</cp:lastModifiedBy>
  <cp:revision>1</cp:revision>
  <dcterms:created xsi:type="dcterms:W3CDTF">2025-10-14T15:56:22Z</dcterms:created>
  <dcterms:modified xsi:type="dcterms:W3CDTF">2025-10-14T17:01:09Z</dcterms:modified>
</cp:coreProperties>
</file>